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68" r:id="rId5"/>
    <p:sldId id="310" r:id="rId6"/>
    <p:sldId id="311" r:id="rId7"/>
    <p:sldId id="312" r:id="rId8"/>
    <p:sldId id="313" r:id="rId9"/>
    <p:sldId id="314" r:id="rId10"/>
    <p:sldId id="315" r:id="rId11"/>
    <p:sldId id="316" r:id="rId12"/>
    <p:sldId id="317" r:id="rId13"/>
    <p:sldId id="318" r:id="rId14"/>
    <p:sldId id="319" r:id="rId15"/>
    <p:sldId id="320" r:id="rId16"/>
    <p:sldId id="321" r:id="rId17"/>
    <p:sldId id="322" r:id="rId18"/>
    <p:sldId id="323" r:id="rId19"/>
    <p:sldId id="325" r:id="rId20"/>
    <p:sldId id="32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358B988-E648-4450-B48F-2DC287F4A4AF}">
          <p14:sldIdLst>
            <p14:sldId id="268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  <p14:sldId id="322"/>
            <p14:sldId id="323"/>
            <p14:sldId id="325"/>
            <p14:sldId id="32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19" autoAdjust="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225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010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0401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2231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6775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260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0723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1850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4398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070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ocw.mit.edu/" TargetMode="External"/><Relationship Id="rId2" Type="http://schemas.openxmlformats.org/officeDocument/2006/relationships/hyperlink" Target="http://cs231n.stanford.edu/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10AF38-26DF-48B3-952C-4A9091D686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8929" y="1060704"/>
            <a:ext cx="6995455" cy="2743200"/>
          </a:xfrm>
        </p:spPr>
        <p:txBody>
          <a:bodyPr>
            <a:normAutofit/>
          </a:bodyPr>
          <a:lstStyle/>
          <a:p>
            <a:r>
              <a:rPr lang="en-IN" sz="6000" dirty="0"/>
              <a:t>Backpropagation in ANN, CNN, and RNN</a:t>
            </a:r>
            <a:endParaRPr lang="en-US" sz="6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FC2D8F-56D2-4ADF-B439-0E09E7C378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2899" y="4672739"/>
            <a:ext cx="6269347" cy="1021498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Ishan bhat-nnm23is078</a:t>
            </a:r>
          </a:p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K h Sushanth-nnm23is083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44179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308AC96E-AA33-4309-B51D-072F59E6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434510" y="0"/>
            <a:ext cx="4635315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747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6CB32-901A-4DA0-AA8A-9A7B5A88B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IN" dirty="0"/>
              <a:t>1. Introduction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D5B568-DBC8-3FFE-A1D2-7BA300D3E2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Backpropagation is a fundamental algorithm used in deep learning to train neural networks. It works by calculating the error and propagating it backward to update weights using gradient descent.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4825468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17A53-6217-F423-560A-A2A54B60B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2. Backpropagation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33C803-67C8-9B21-D975-2AFF6EE2BA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Key Idea</a:t>
            </a:r>
          </a:p>
          <a:p>
            <a:r>
              <a:rPr lang="en-IN" dirty="0"/>
              <a:t>Forward pass → compute output </a:t>
            </a:r>
          </a:p>
          <a:p>
            <a:r>
              <a:rPr lang="en-IN" dirty="0"/>
              <a:t>Loss function → calculate error </a:t>
            </a:r>
          </a:p>
          <a:p>
            <a:r>
              <a:rPr lang="en-IN" dirty="0"/>
              <a:t>Backward pass → update weights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81600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598B1A-AE3D-6040-4B1A-9AB80DE46B17}"/>
                  </a:ext>
                </a:extLst>
              </p:cNvPr>
              <p:cNvSpPr>
                <a:spLocks noGrp="1"/>
              </p:cNvSpPr>
              <p:nvPr>
                <p:ph idx="4294967295"/>
              </p:nvPr>
            </p:nvSpPr>
            <p:spPr>
              <a:xfrm>
                <a:off x="658368" y="886969"/>
                <a:ext cx="9601645" cy="4982020"/>
              </a:xfrm>
            </p:spPr>
            <p:txBody>
              <a:bodyPr>
                <a:normAutofit/>
              </a:bodyPr>
              <a:lstStyle/>
              <a:p>
                <a:r>
                  <a:rPr lang="en-IN" b="1" dirty="0"/>
                  <a:t>General Formula</a:t>
                </a:r>
              </a:p>
              <a:p>
                <a:r>
                  <a:rPr lang="en-IN" dirty="0"/>
                  <a:t>    Loss function (example – Mean Squared Error):</a:t>
                </a:r>
              </a:p>
              <a:p>
                <a:r>
                  <a:rPr lang="en-IN" dirty="0"/>
                  <a:t>     </a:t>
                </a:r>
                <a14:m>
                  <m:oMath xmlns:m="http://schemas.openxmlformats.org/officeDocument/2006/math">
                    <m:r>
                      <a:rPr lang="en-IN" i="1"/>
                      <m:t>𝐿</m:t>
                    </m:r>
                    <m:r>
                      <a:rPr lang="en-IN"/>
                      <m:t>=</m:t>
                    </m:r>
                    <m:f>
                      <m:fPr>
                        <m:ctrlPr>
                          <a:rPr lang="ar-AE" i="1"/>
                        </m:ctrlPr>
                      </m:fPr>
                      <m:num>
                        <m:r>
                          <a:rPr lang="ar-AE"/>
                          <m:t>1</m:t>
                        </m:r>
                      </m:num>
                      <m:den>
                        <m:r>
                          <a:rPr lang="ar-AE"/>
                          <m:t>2</m:t>
                        </m:r>
                      </m:den>
                    </m:f>
                    <m:d>
                      <m:dPr>
                        <m:endChr m:val=""/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𝑦</m:t>
                        </m:r>
                        <m:r>
                          <a:rPr lang="ar-AE"/>
                          <m:t>−</m:t>
                        </m:r>
                        <m:acc>
                          <m:accPr>
                            <m:chr m:val="̂"/>
                            <m:ctrlPr>
                              <a:rPr lang="ar-AE" i="1"/>
                            </m:ctrlPr>
                          </m:accPr>
                          <m:e>
                            <m:r>
                              <a:rPr lang="ar-AE" i="1"/>
                              <m:t>𝑦</m:t>
                            </m:r>
                          </m:e>
                        </m:acc>
                        <m:sSup>
                          <m:sSupPr>
                            <m:ctrlPr>
                              <a:rPr lang="ar-AE" i="1"/>
                            </m:ctrlPr>
                          </m:sSupPr>
                          <m:e>
                            <m:d>
                              <m:dPr>
                                <m:begChr m:val=""/>
                                <m:endChr m:val=""/>
                                <m:ctrlPr>
                                  <a:rPr lang="ar-AE" i="1"/>
                                </m:ctrlPr>
                              </m:dPr>
                              <m:e>
                                <m:r>
                                  <a:rPr lang="ar-AE"/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ar-AE"/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ar-AE" dirty="0"/>
              </a:p>
              <a:p>
                <a:r>
                  <a:rPr lang="en-IN" dirty="0"/>
                  <a:t>    Weight update rule:</a:t>
                </a:r>
              </a:p>
              <a:p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en-IN" i="1"/>
                      <m:t>𝑤</m:t>
                    </m:r>
                    <m:r>
                      <a:rPr lang="en-IN"/>
                      <m:t>=</m:t>
                    </m:r>
                    <m:r>
                      <a:rPr lang="en-IN" i="1"/>
                      <m:t>𝑤</m:t>
                    </m:r>
                    <m:r>
                      <a:rPr lang="en-IN"/>
                      <m:t>−</m:t>
                    </m:r>
                    <m:r>
                      <a:rPr lang="en-IN" i="1"/>
                      <m:t>𝜂</m:t>
                    </m:r>
                    <m:f>
                      <m:fPr>
                        <m:ctrlPr>
                          <a:rPr lang="ar-AE" i="1"/>
                        </m:ctrlPr>
                      </m:fPr>
                      <m:num>
                        <m:r>
                          <a:rPr lang="ar-AE"/>
                          <m:t>∂</m:t>
                        </m:r>
                        <m:r>
                          <a:rPr lang="ar-AE" i="1"/>
                          <m:t>𝐿</m:t>
                        </m:r>
                      </m:num>
                      <m:den>
                        <m:r>
                          <a:rPr lang="ar-AE"/>
                          <m:t>∂</m:t>
                        </m:r>
                        <m:r>
                          <a:rPr lang="ar-AE" i="1"/>
                          <m:t>𝑤</m:t>
                        </m:r>
                      </m:den>
                    </m:f>
                  </m:oMath>
                </a14:m>
                <a:endParaRPr lang="ar-AE" dirty="0"/>
              </a:p>
              <a:p>
                <a:r>
                  <a:rPr lang="en-IN" dirty="0"/>
                  <a:t>    Where:</a:t>
                </a:r>
              </a:p>
              <a:p>
                <a:r>
                  <a:rPr lang="en-IN" dirty="0"/>
                  <a:t>    </a:t>
                </a:r>
                <a14:m>
                  <m:oMath xmlns:m="http://schemas.openxmlformats.org/officeDocument/2006/math">
                    <m:r>
                      <a:rPr lang="en-IN" i="1"/>
                      <m:t>𝑤</m:t>
                    </m:r>
                  </m:oMath>
                </a14:m>
                <a:r>
                  <a:rPr lang="en-IN" dirty="0"/>
                  <a:t>= weight </a:t>
                </a:r>
              </a:p>
              <a:p>
                <a:r>
                  <a:rPr lang="en-IN" dirty="0"/>
                  <a:t>    </a:t>
                </a:r>
                <a14:m>
                  <m:oMath xmlns:m="http://schemas.openxmlformats.org/officeDocument/2006/math">
                    <m:r>
                      <a:rPr lang="en-IN" i="1"/>
                      <m:t>𝜂</m:t>
                    </m:r>
                  </m:oMath>
                </a14:m>
                <a:r>
                  <a:rPr lang="en-IN" dirty="0"/>
                  <a:t>= learning rate </a:t>
                </a:r>
              </a:p>
              <a:p>
                <a:r>
                  <a:rPr lang="en-IN" dirty="0"/>
                  <a:t>    </a:t>
                </a:r>
                <a14:m>
                  <m:oMath xmlns:m="http://schemas.openxmlformats.org/officeDocument/2006/math">
                    <m:r>
                      <a:rPr lang="en-IN" i="1"/>
                      <m:t>𝐿</m:t>
                    </m:r>
                  </m:oMath>
                </a14:m>
                <a:r>
                  <a:rPr lang="en-IN" dirty="0"/>
                  <a:t>= loss</a:t>
                </a:r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598B1A-AE3D-6040-4B1A-9AB80DE46B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658368" y="886969"/>
                <a:ext cx="9601645" cy="4982020"/>
              </a:xfrm>
              <a:blipFill>
                <a:blip r:embed="rId2"/>
                <a:stretch>
                  <a:fillRect l="-1524" t="-61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11224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6C091-C6E9-DB0A-1C97-4E4B3C4C3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277021"/>
          </a:xfrm>
        </p:spPr>
        <p:txBody>
          <a:bodyPr>
            <a:normAutofit/>
          </a:bodyPr>
          <a:lstStyle/>
          <a:p>
            <a:r>
              <a:rPr lang="en-US" sz="3200" dirty="0"/>
              <a:t>3. Backpropagation in ANN (Artificial Neural Network)</a:t>
            </a:r>
            <a:endParaRPr lang="en-IN" sz="3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A15C48-1843-F420-2362-CC266C36F9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2002537"/>
                <a:ext cx="10058400" cy="3866556"/>
              </a:xfrm>
            </p:spPr>
            <p:txBody>
              <a:bodyPr/>
              <a:lstStyle/>
              <a:p>
                <a:r>
                  <a:rPr lang="en-IN" b="1" dirty="0"/>
                  <a:t>Equation</a:t>
                </a:r>
              </a:p>
              <a:p>
                <a:r>
                  <a:rPr lang="en-IN" dirty="0"/>
                  <a:t>Output: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ar-AE"/>
                        </m:ctrlPr>
                      </m:accPr>
                      <m:e>
                        <m:r>
                          <a:rPr lang="ar-AE" i="1"/>
                          <m:t>𝑦</m:t>
                        </m:r>
                      </m:e>
                    </m:acc>
                    <m:r>
                      <a:rPr lang="ar-AE"/>
                      <m:t>=</m:t>
                    </m:r>
                    <m:r>
                      <a:rPr lang="ar-AE" i="1"/>
                      <m:t>𝑓</m:t>
                    </m:r>
                    <m:d>
                      <m:dPr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𝑤</m:t>
                        </m:r>
                        <m:r>
                          <a:rPr lang="ar-AE"/>
                          <m:t>⋅</m:t>
                        </m:r>
                        <m:r>
                          <a:rPr lang="ar-AE" i="1"/>
                          <m:t>𝑥</m:t>
                        </m:r>
                        <m:r>
                          <a:rPr lang="ar-AE"/>
                          <m:t>+</m:t>
                        </m:r>
                        <m:r>
                          <a:rPr lang="ar-AE" i="1"/>
                          <m:t>𝑏</m:t>
                        </m:r>
                      </m:e>
                    </m:d>
                  </m:oMath>
                </a14:m>
                <a:endParaRPr lang="ar-AE" dirty="0"/>
              </a:p>
              <a:p>
                <a:r>
                  <a:rPr lang="en-IN" dirty="0"/>
                  <a:t>Error gradient: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ar-AE"/>
                        </m:ctrlPr>
                      </m:fPr>
                      <m:num>
                        <m:r>
                          <a:rPr lang="ar-AE"/>
                          <m:t>∂</m:t>
                        </m:r>
                        <m:r>
                          <a:rPr lang="ar-AE" i="1"/>
                          <m:t>𝐿</m:t>
                        </m:r>
                      </m:num>
                      <m:den>
                        <m:r>
                          <a:rPr lang="ar-AE"/>
                          <m:t>∂</m:t>
                        </m:r>
                        <m:r>
                          <a:rPr lang="ar-AE" i="1"/>
                          <m:t>𝑤</m:t>
                        </m:r>
                      </m:den>
                    </m:f>
                    <m:r>
                      <a:rPr lang="ar-AE"/>
                      <m:t>=</m:t>
                    </m:r>
                    <m:d>
                      <m:dPr>
                        <m:ctrlPr>
                          <a:rPr lang="ar-AE" i="1"/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ar-AE" i="1"/>
                            </m:ctrlPr>
                          </m:accPr>
                          <m:e>
                            <m:r>
                              <a:rPr lang="ar-AE" i="1"/>
                              <m:t>𝑦</m:t>
                            </m:r>
                          </m:e>
                        </m:acc>
                        <m:r>
                          <a:rPr lang="ar-AE"/>
                          <m:t>−</m:t>
                        </m:r>
                        <m:r>
                          <a:rPr lang="ar-AE" i="1"/>
                          <m:t>𝑦</m:t>
                        </m:r>
                      </m:e>
                    </m:d>
                    <m:r>
                      <a:rPr lang="ar-AE"/>
                      <m:t>⋅</m:t>
                    </m:r>
                    <m:sSup>
                      <m:sSupPr>
                        <m:ctrlPr>
                          <a:rPr lang="ar-AE" i="1"/>
                        </m:ctrlPr>
                      </m:sSupPr>
                      <m:e>
                        <m:r>
                          <a:rPr lang="ar-AE" i="1"/>
                          <m:t>𝑓</m:t>
                        </m:r>
                      </m:e>
                      <m:sup>
                        <m:r>
                          <a:rPr lang="ar-AE"/>
                          <m:t>′</m:t>
                        </m:r>
                      </m:sup>
                    </m:sSup>
                    <m:d>
                      <m:dPr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𝑧</m:t>
                        </m:r>
                      </m:e>
                    </m:d>
                    <m:r>
                      <a:rPr lang="ar-AE"/>
                      <m:t>⋅</m:t>
                    </m:r>
                    <m:r>
                      <a:rPr lang="ar-AE" i="1"/>
                      <m:t>𝑥</m:t>
                    </m:r>
                  </m:oMath>
                </a14:m>
                <a:endParaRPr lang="ar-AE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A15C48-1843-F420-2362-CC266C36F9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2002537"/>
                <a:ext cx="10058400" cy="3866556"/>
              </a:xfrm>
              <a:blipFill>
                <a:blip r:embed="rId2"/>
                <a:stretch>
                  <a:fillRect l="-545" t="-78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8146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BFABD7-FB46-C260-BA55-8FD806C69135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12648" y="548640"/>
            <a:ext cx="11579352" cy="5320348"/>
          </a:xfrm>
        </p:spPr>
        <p:txBody>
          <a:bodyPr/>
          <a:lstStyle/>
          <a:p>
            <a:r>
              <a:rPr lang="en-US" sz="2400" b="1" dirty="0"/>
              <a:t>Algorithm</a:t>
            </a:r>
          </a:p>
          <a:p>
            <a:r>
              <a:rPr lang="en-US" dirty="0"/>
              <a:t>  1.Initialize weights </a:t>
            </a:r>
          </a:p>
          <a:p>
            <a:r>
              <a:rPr lang="en-US" dirty="0"/>
              <a:t>  2.Perform forward propagation </a:t>
            </a:r>
          </a:p>
          <a:p>
            <a:r>
              <a:rPr lang="en-US" dirty="0"/>
              <a:t>  3.Compute loss </a:t>
            </a:r>
          </a:p>
          <a:p>
            <a:r>
              <a:rPr lang="en-US" dirty="0"/>
              <a:t>  4.Calculate gradients using chain rule </a:t>
            </a:r>
          </a:p>
          <a:p>
            <a:r>
              <a:rPr lang="en-US" dirty="0"/>
              <a:t>  5.Update weights </a:t>
            </a:r>
          </a:p>
          <a:p>
            <a:r>
              <a:rPr lang="en-US" dirty="0"/>
              <a:t>  6.Repeat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606682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421ACB-C25A-0977-5389-8E8710E510E6}"/>
                  </a:ext>
                </a:extLst>
              </p:cNvPr>
              <p:cNvSpPr>
                <a:spLocks noGrp="1"/>
              </p:cNvSpPr>
              <p:nvPr>
                <p:ph idx="4294967295"/>
              </p:nvPr>
            </p:nvSpPr>
            <p:spPr>
              <a:xfrm>
                <a:off x="512064" y="475488"/>
                <a:ext cx="11679936" cy="5393500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IN" sz="2600" b="1" dirty="0"/>
                  <a:t>Simple Example (ANN)</a:t>
                </a:r>
              </a:p>
              <a:p>
                <a:r>
                  <a:rPr lang="en-IN" b="1" dirty="0"/>
                  <a:t>  Problem:</a:t>
                </a:r>
                <a:r>
                  <a:rPr lang="en-IN" dirty="0"/>
                  <a:t> Predict output for input </a:t>
                </a:r>
                <a14:m>
                  <m:oMath xmlns:m="http://schemas.openxmlformats.org/officeDocument/2006/math">
                    <m:r>
                      <a:rPr lang="en-IN" i="1"/>
                      <m:t>𝑥</m:t>
                    </m:r>
                    <m:r>
                      <a:rPr lang="en-IN"/>
                      <m:t>=2</m:t>
                    </m:r>
                  </m:oMath>
                </a14:m>
                <a:r>
                  <a:rPr lang="en-IN" dirty="0"/>
                  <a:t>, target </a:t>
                </a:r>
                <a14:m>
                  <m:oMath xmlns:m="http://schemas.openxmlformats.org/officeDocument/2006/math">
                    <m:r>
                      <a:rPr lang="en-IN" i="1"/>
                      <m:t>𝑦</m:t>
                    </m:r>
                    <m:r>
                      <a:rPr lang="en-IN"/>
                      <m:t>=4</m:t>
                    </m:r>
                  </m:oMath>
                </a14:m>
                <a:endParaRPr lang="en-IN" dirty="0"/>
              </a:p>
              <a:p>
                <a:r>
                  <a:rPr lang="en-IN" dirty="0"/>
                  <a:t>  Initial weight </a:t>
                </a:r>
                <a14:m>
                  <m:oMath xmlns:m="http://schemas.openxmlformats.org/officeDocument/2006/math">
                    <m:r>
                      <a:rPr lang="en-IN" i="1"/>
                      <m:t>𝑤</m:t>
                    </m:r>
                    <m:r>
                      <a:rPr lang="en-IN"/>
                      <m:t>=1</m:t>
                    </m:r>
                  </m:oMath>
                </a14:m>
                <a:endParaRPr lang="en-IN" dirty="0"/>
              </a:p>
              <a:p>
                <a:r>
                  <a:rPr lang="en-IN" dirty="0"/>
                  <a:t>  Output:</a:t>
                </a:r>
              </a:p>
              <a:p>
                <a:r>
                  <a:rPr lang="en-IN" dirty="0"/>
                  <a:t> 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ar-AE"/>
                        </m:ctrlPr>
                      </m:accPr>
                      <m:e>
                        <m:r>
                          <a:rPr lang="ar-AE" i="1"/>
                          <m:t>𝑦</m:t>
                        </m:r>
                      </m:e>
                    </m:acc>
                    <m:r>
                      <a:rPr lang="ar-AE"/>
                      <m:t>=</m:t>
                    </m:r>
                    <m:r>
                      <a:rPr lang="ar-AE"/>
                      <m:t>2</m:t>
                    </m:r>
                    <m:r>
                      <a:rPr lang="ar-AE"/>
                      <m:t>×</m:t>
                    </m:r>
                    <m:r>
                      <a:rPr lang="ar-AE"/>
                      <m:t>1</m:t>
                    </m:r>
                    <m:r>
                      <a:rPr lang="ar-AE"/>
                      <m:t>=</m:t>
                    </m:r>
                    <m:r>
                      <a:rPr lang="ar-AE"/>
                      <m:t>2</m:t>
                    </m:r>
                  </m:oMath>
                </a14:m>
                <a:endParaRPr lang="ar-AE" dirty="0"/>
              </a:p>
              <a:p>
                <a:r>
                  <a:rPr lang="en-IN" dirty="0"/>
                  <a:t>  Error:</a:t>
                </a:r>
              </a:p>
              <a:p>
                <a:r>
                  <a:rPr lang="en-IN" dirty="0"/>
                  <a:t>  </a:t>
                </a:r>
                <a14:m>
                  <m:oMath xmlns:m="http://schemas.openxmlformats.org/officeDocument/2006/math">
                    <m:r>
                      <a:rPr lang="en-IN" i="1"/>
                      <m:t>𝐿</m:t>
                    </m:r>
                    <m:r>
                      <a:rPr lang="en-IN"/>
                      <m:t>=</m:t>
                    </m:r>
                    <m:f>
                      <m:fPr>
                        <m:ctrlPr>
                          <a:rPr lang="ar-AE" i="1"/>
                        </m:ctrlPr>
                      </m:fPr>
                      <m:num>
                        <m:r>
                          <a:rPr lang="ar-AE"/>
                          <m:t>1</m:t>
                        </m:r>
                      </m:num>
                      <m:den>
                        <m:r>
                          <a:rPr lang="ar-AE"/>
                          <m:t>2</m:t>
                        </m:r>
                      </m:den>
                    </m:f>
                    <m:d>
                      <m:dPr>
                        <m:endChr m:val=""/>
                        <m:ctrlPr>
                          <a:rPr lang="ar-AE" i="1"/>
                        </m:ctrlPr>
                      </m:dPr>
                      <m:e>
                        <m:r>
                          <a:rPr lang="ar-AE"/>
                          <m:t>4</m:t>
                        </m:r>
                        <m:r>
                          <a:rPr lang="ar-AE"/>
                          <m:t>−</m:t>
                        </m:r>
                        <m:r>
                          <a:rPr lang="ar-AE"/>
                          <m:t>2</m:t>
                        </m:r>
                        <m:sSup>
                          <m:sSupPr>
                            <m:ctrlPr>
                              <a:rPr lang="ar-AE" i="1"/>
                            </m:ctrlPr>
                          </m:sSupPr>
                          <m:e>
                            <m:d>
                              <m:dPr>
                                <m:begChr m:val=""/>
                                <m:endChr m:val=""/>
                                <m:ctrlPr>
                                  <a:rPr lang="ar-AE" i="1"/>
                                </m:ctrlPr>
                              </m:dPr>
                              <m:e>
                                <m:r>
                                  <a:rPr lang="ar-AE"/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ar-AE"/>
                              <m:t>2</m:t>
                            </m:r>
                          </m:sup>
                        </m:sSup>
                        <m:r>
                          <a:rPr lang="ar-AE"/>
                          <m:t>=</m:t>
                        </m:r>
                        <m:r>
                          <a:rPr lang="ar-AE"/>
                          <m:t>2</m:t>
                        </m:r>
                      </m:e>
                    </m:d>
                  </m:oMath>
                </a14:m>
                <a:endParaRPr lang="ar-AE" dirty="0"/>
              </a:p>
              <a:p>
                <a:r>
                  <a:rPr lang="en-IN" dirty="0"/>
                  <a:t>  Gradient:</a:t>
                </a:r>
              </a:p>
              <a:p>
                <a:r>
                  <a:rPr lang="en-IN" dirty="0"/>
                  <a:t>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ar-AE"/>
                        </m:ctrlPr>
                      </m:fPr>
                      <m:num>
                        <m:r>
                          <a:rPr lang="ar-AE"/>
                          <m:t>∂</m:t>
                        </m:r>
                        <m:r>
                          <a:rPr lang="ar-AE" i="1"/>
                          <m:t>𝐿</m:t>
                        </m:r>
                      </m:num>
                      <m:den>
                        <m:r>
                          <a:rPr lang="ar-AE"/>
                          <m:t>∂</m:t>
                        </m:r>
                        <m:r>
                          <a:rPr lang="ar-AE" i="1"/>
                          <m:t>𝑤</m:t>
                        </m:r>
                      </m:den>
                    </m:f>
                    <m:r>
                      <a:rPr lang="ar-AE"/>
                      <m:t>=</m:t>
                    </m:r>
                    <m:d>
                      <m:dPr>
                        <m:ctrlPr>
                          <a:rPr lang="ar-AE" i="1"/>
                        </m:ctrlPr>
                      </m:dPr>
                      <m:e>
                        <m:r>
                          <a:rPr lang="ar-AE"/>
                          <m:t>2</m:t>
                        </m:r>
                        <m:r>
                          <a:rPr lang="ar-AE"/>
                          <m:t>−</m:t>
                        </m:r>
                        <m:r>
                          <a:rPr lang="ar-AE"/>
                          <m:t>4</m:t>
                        </m:r>
                      </m:e>
                    </m:d>
                    <m:r>
                      <a:rPr lang="ar-AE"/>
                      <m:t>×</m:t>
                    </m:r>
                    <m:r>
                      <a:rPr lang="ar-AE"/>
                      <m:t>2</m:t>
                    </m:r>
                    <m:r>
                      <a:rPr lang="ar-AE"/>
                      <m:t>=−</m:t>
                    </m:r>
                    <m:r>
                      <a:rPr lang="ar-AE"/>
                      <m:t>4</m:t>
                    </m:r>
                  </m:oMath>
                </a14:m>
                <a:endParaRPr lang="ar-AE" dirty="0"/>
              </a:p>
              <a:p>
                <a:r>
                  <a:rPr lang="en-IN" dirty="0"/>
                  <a:t>  Update:</a:t>
                </a:r>
              </a:p>
              <a:p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IN" i="1"/>
                      <m:t>𝑤</m:t>
                    </m:r>
                    <m:r>
                      <a:rPr lang="en-IN"/>
                      <m:t>=</m:t>
                    </m:r>
                    <m:r>
                      <a:rPr lang="en-IN"/>
                      <m:t>1</m:t>
                    </m:r>
                    <m:r>
                      <a:rPr lang="en-IN"/>
                      <m:t>−</m:t>
                    </m:r>
                    <m:r>
                      <a:rPr lang="en-IN"/>
                      <m:t>0</m:t>
                    </m:r>
                    <m:r>
                      <a:rPr lang="en-IN"/>
                      <m:t>.</m:t>
                    </m:r>
                    <m:r>
                      <a:rPr lang="en-IN"/>
                      <m:t>1</m:t>
                    </m:r>
                    <m:d>
                      <m:dPr>
                        <m:ctrlPr>
                          <a:rPr lang="ar-AE" i="1"/>
                        </m:ctrlPr>
                      </m:dPr>
                      <m:e>
                        <m:r>
                          <a:rPr lang="ar-AE"/>
                          <m:t>−</m:t>
                        </m:r>
                        <m:r>
                          <a:rPr lang="ar-AE"/>
                          <m:t>4</m:t>
                        </m:r>
                      </m:e>
                    </m:d>
                    <m:r>
                      <a:rPr lang="ar-AE"/>
                      <m:t>=</m:t>
                    </m:r>
                    <m:r>
                      <a:rPr lang="ar-AE"/>
                      <m:t>1</m:t>
                    </m:r>
                    <m:r>
                      <a:rPr lang="ar-AE"/>
                      <m:t>.</m:t>
                    </m:r>
                    <m:r>
                      <a:rPr lang="ar-AE"/>
                      <m:t>4</m:t>
                    </m:r>
                  </m:oMath>
                </a14:m>
                <a:endParaRPr lang="ar-AE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421ACB-C25A-0977-5389-8E8710E510E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512064" y="475488"/>
                <a:ext cx="11679936" cy="5393500"/>
              </a:xfrm>
              <a:blipFill>
                <a:blip r:embed="rId2"/>
                <a:stretch>
                  <a:fillRect l="-1200" t="-7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09898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E1D5E-C33F-BCEC-0AB1-1653C764F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800" dirty="0"/>
              <a:t>4. Backpropagation in CNN (Convolutional Neural Network)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9A5318-6026-3A82-F17F-44AFB8D037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947673"/>
                <a:ext cx="10058400" cy="3921420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IN" b="1" dirty="0"/>
                  <a:t>Key Difference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  Works with </a:t>
                </a:r>
                <a:r>
                  <a:rPr lang="en-IN" b="1" dirty="0"/>
                  <a:t>filters/kernels</a:t>
                </a:r>
                <a:r>
                  <a:rPr lang="en-IN" dirty="0"/>
                  <a:t>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  Uses </a:t>
                </a:r>
                <a:r>
                  <a:rPr lang="en-IN" b="1" dirty="0"/>
                  <a:t>convolution + pooling layers</a:t>
                </a:r>
                <a:r>
                  <a:rPr lang="en-IN" dirty="0"/>
                  <a:t> </a:t>
                </a:r>
              </a:p>
              <a:p>
                <a:br>
                  <a:rPr lang="en-IN" dirty="0"/>
                </a:br>
                <a:endParaRPr lang="en-IN" dirty="0"/>
              </a:p>
              <a:p>
                <a:r>
                  <a:rPr lang="en-IN" b="1" dirty="0"/>
                  <a:t>Equation</a:t>
                </a:r>
              </a:p>
              <a:p>
                <a:r>
                  <a:rPr lang="en-IN" dirty="0"/>
                  <a:t>Convolution:</a:t>
                </a:r>
              </a:p>
              <a:p>
                <a14:m>
                  <m:oMath xmlns:m="http://schemas.openxmlformats.org/officeDocument/2006/math">
                    <m:r>
                      <a:rPr lang="en-IN" i="1"/>
                      <m:t>𝑍</m:t>
                    </m:r>
                    <m:r>
                      <a:rPr lang="en-IN"/>
                      <m:t>=</m:t>
                    </m:r>
                    <m:r>
                      <a:rPr lang="en-IN" i="1"/>
                      <m:t>𝑋</m:t>
                    </m:r>
                    <m:r>
                      <a:rPr lang="en-IN"/>
                      <m:t>∗</m:t>
                    </m:r>
                    <m:r>
                      <a:rPr lang="en-IN" i="1"/>
                      <m:t>𝑊</m:t>
                    </m:r>
                    <m:r>
                      <a:rPr lang="en-IN"/>
                      <m:t>+</m:t>
                    </m:r>
                    <m:r>
                      <a:rPr lang="en-IN" i="1"/>
                      <m:t>𝑏</m:t>
                    </m:r>
                  </m:oMath>
                </a14:m>
                <a:endParaRPr lang="en-IN" dirty="0"/>
              </a:p>
              <a:p>
                <a:r>
                  <a:rPr lang="en-IN" dirty="0"/>
                  <a:t>Gradient: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ar-AE"/>
                        </m:ctrlPr>
                      </m:fPr>
                      <m:num>
                        <m:r>
                          <a:rPr lang="ar-AE"/>
                          <m:t>∂</m:t>
                        </m:r>
                        <m:r>
                          <a:rPr lang="ar-AE" i="1"/>
                          <m:t>𝐿</m:t>
                        </m:r>
                      </m:num>
                      <m:den>
                        <m:r>
                          <a:rPr lang="ar-AE"/>
                          <m:t>∂</m:t>
                        </m:r>
                        <m:r>
                          <a:rPr lang="ar-AE" i="1"/>
                          <m:t>𝑊</m:t>
                        </m:r>
                      </m:den>
                    </m:f>
                    <m:r>
                      <a:rPr lang="ar-AE"/>
                      <m:t>=</m:t>
                    </m:r>
                    <m:r>
                      <a:rPr lang="ar-AE" i="1"/>
                      <m:t>𝑋</m:t>
                    </m:r>
                    <m:r>
                      <a:rPr lang="ar-AE"/>
                      <m:t>∗</m:t>
                    </m:r>
                    <m:f>
                      <m:fPr>
                        <m:ctrlPr>
                          <a:rPr lang="ar-AE" i="1"/>
                        </m:ctrlPr>
                      </m:fPr>
                      <m:num>
                        <m:r>
                          <a:rPr lang="ar-AE"/>
                          <m:t>∂</m:t>
                        </m:r>
                        <m:r>
                          <a:rPr lang="ar-AE" i="1"/>
                          <m:t>𝐿</m:t>
                        </m:r>
                      </m:num>
                      <m:den>
                        <m:r>
                          <a:rPr lang="ar-AE"/>
                          <m:t>∂</m:t>
                        </m:r>
                        <m:r>
                          <a:rPr lang="ar-AE" i="1"/>
                          <m:t>𝑍</m:t>
                        </m:r>
                      </m:den>
                    </m:f>
                  </m:oMath>
                </a14:m>
                <a:endParaRPr lang="ar-AE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9A5318-6026-3A82-F17F-44AFB8D037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947673"/>
                <a:ext cx="10058400" cy="3921420"/>
              </a:xfrm>
              <a:blipFill>
                <a:blip r:embed="rId2"/>
                <a:stretch>
                  <a:fillRect l="-1152" t="-9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9465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8D86B-0839-0D2D-AFA4-E21787246084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76072" y="548640"/>
            <a:ext cx="11615928" cy="5320348"/>
          </a:xfrm>
        </p:spPr>
        <p:txBody>
          <a:bodyPr>
            <a:normAutofit/>
          </a:bodyPr>
          <a:lstStyle/>
          <a:p>
            <a:r>
              <a:rPr lang="en-US" sz="2400" b="1" dirty="0"/>
              <a:t>Algorithm</a:t>
            </a:r>
          </a:p>
          <a:p>
            <a:r>
              <a:rPr lang="en-US" dirty="0"/>
              <a:t>1.Apply convolution </a:t>
            </a:r>
          </a:p>
          <a:p>
            <a:r>
              <a:rPr lang="en-US" dirty="0"/>
              <a:t>2.Apply activation </a:t>
            </a:r>
          </a:p>
          <a:p>
            <a:r>
              <a:rPr lang="en-US" dirty="0"/>
              <a:t>3.Compute loss </a:t>
            </a:r>
          </a:p>
          <a:p>
            <a:r>
              <a:rPr lang="en-US" dirty="0"/>
              <a:t>4.Backpropagate through: </a:t>
            </a:r>
          </a:p>
          <a:p>
            <a:pPr lvl="1"/>
            <a:r>
              <a:rPr lang="en-US" dirty="0"/>
              <a:t>Fully connected layers </a:t>
            </a:r>
          </a:p>
          <a:p>
            <a:pPr lvl="1"/>
            <a:r>
              <a:rPr lang="en-US" dirty="0"/>
              <a:t>Pooling layers </a:t>
            </a:r>
          </a:p>
          <a:p>
            <a:pPr lvl="1"/>
            <a:r>
              <a:rPr lang="en-US" dirty="0"/>
              <a:t>Convolution layers </a:t>
            </a:r>
          </a:p>
          <a:p>
            <a:r>
              <a:rPr lang="en-US" dirty="0"/>
              <a:t>5.Update filters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6375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2B89B2-03A9-3372-408F-BC34A5267171}"/>
                  </a:ext>
                </a:extLst>
              </p:cNvPr>
              <p:cNvSpPr>
                <a:spLocks noGrp="1"/>
              </p:cNvSpPr>
              <p:nvPr>
                <p:ph idx="4294967295"/>
              </p:nvPr>
            </p:nvSpPr>
            <p:spPr>
              <a:xfrm>
                <a:off x="521208" y="713232"/>
                <a:ext cx="11670792" cy="5155756"/>
              </a:xfrm>
            </p:spPr>
            <p:txBody>
              <a:bodyPr>
                <a:normAutofit/>
              </a:bodyPr>
              <a:lstStyle/>
              <a:p>
                <a:r>
                  <a:rPr lang="en-IN" sz="2400" b="1" dirty="0"/>
                  <a:t>Simple Example (CNN)</a:t>
                </a:r>
              </a:p>
              <a:p>
                <a:r>
                  <a:rPr lang="en-IN" b="1" dirty="0"/>
                  <a:t>Problem:</a:t>
                </a:r>
                <a:r>
                  <a:rPr lang="en-IN" dirty="0"/>
                  <a:t> Apply a 2×2 filter on image</a:t>
                </a:r>
              </a:p>
              <a:p>
                <a:r>
                  <a:rPr lang="en-IN" dirty="0"/>
                  <a:t>Input: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ar-AE"/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ar-AE"/>
                            </m:ctrlPr>
                          </m:mPr>
                          <m:mr>
                            <m:e>
                              <m:r>
                                <a:rPr lang="ar-AE"/>
                                <m:t>1</m:t>
                              </m:r>
                            </m:e>
                            <m:e>
                              <m:r>
                                <a:rPr lang="ar-AE"/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ar-AE"/>
                                <m:t>3</m:t>
                              </m:r>
                            </m:e>
                            <m:e>
                              <m:r>
                                <a:rPr lang="ar-AE"/>
                                <m:t>4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ar-AE" dirty="0"/>
              </a:p>
              <a:p>
                <a:r>
                  <a:rPr lang="en-IN" dirty="0"/>
                  <a:t>Filter: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ar-AE"/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ar-AE"/>
                            </m:ctrlPr>
                          </m:mPr>
                          <m:mr>
                            <m:e>
                              <m:r>
                                <a:rPr lang="ar-AE"/>
                                <m:t>1</m:t>
                              </m:r>
                            </m:e>
                            <m:e>
                              <m:r>
                                <a:rPr lang="ar-AE"/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ar-AE"/>
                                <m:t>0</m:t>
                              </m:r>
                            </m:e>
                            <m:e>
                              <m:r>
                                <a:rPr lang="ar-AE"/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ar-AE" dirty="0"/>
              </a:p>
              <a:p>
                <a:r>
                  <a:rPr lang="en-IN" dirty="0"/>
                  <a:t>Output:</a:t>
                </a:r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ar-AE"/>
                        </m:ctrlPr>
                      </m:dPr>
                      <m:e>
                        <m:r>
                          <a:rPr lang="ar-AE"/>
                          <m:t>1</m:t>
                        </m:r>
                        <m:r>
                          <a:rPr lang="ar-AE"/>
                          <m:t>×</m:t>
                        </m:r>
                        <m:r>
                          <a:rPr lang="ar-AE"/>
                          <m:t>1</m:t>
                        </m:r>
                        <m:r>
                          <a:rPr lang="ar-AE"/>
                          <m:t>+</m:t>
                        </m:r>
                        <m:r>
                          <a:rPr lang="ar-AE"/>
                          <m:t>2</m:t>
                        </m:r>
                        <m:r>
                          <a:rPr lang="ar-AE"/>
                          <m:t>×</m:t>
                        </m:r>
                        <m:r>
                          <a:rPr lang="ar-AE"/>
                          <m:t>0</m:t>
                        </m:r>
                        <m:r>
                          <a:rPr lang="ar-AE"/>
                          <m:t>+</m:t>
                        </m:r>
                        <m:r>
                          <a:rPr lang="ar-AE"/>
                          <m:t>3</m:t>
                        </m:r>
                        <m:r>
                          <a:rPr lang="ar-AE"/>
                          <m:t>×</m:t>
                        </m:r>
                        <m:r>
                          <a:rPr lang="ar-AE"/>
                          <m:t>0</m:t>
                        </m:r>
                        <m:r>
                          <a:rPr lang="ar-AE"/>
                          <m:t>+</m:t>
                        </m:r>
                        <m:r>
                          <a:rPr lang="ar-AE"/>
                          <m:t>4</m:t>
                        </m:r>
                        <m:r>
                          <a:rPr lang="ar-AE"/>
                          <m:t>×</m:t>
                        </m:r>
                        <m:r>
                          <a:rPr lang="ar-AE"/>
                          <m:t>1</m:t>
                        </m:r>
                      </m:e>
                    </m:d>
                    <m:r>
                      <a:rPr lang="ar-AE"/>
                      <m:t>=</m:t>
                    </m:r>
                    <m:r>
                      <a:rPr lang="ar-AE"/>
                      <m:t>5</m:t>
                    </m:r>
                  </m:oMath>
                </a14:m>
                <a:endParaRPr lang="ar-AE" dirty="0"/>
              </a:p>
              <a:p>
                <a:r>
                  <a:rPr lang="en-IN" dirty="0"/>
                  <a:t>If error = 2, gradient adjusts filter weights accordingly.</a:t>
                </a:r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2B89B2-03A9-3372-408F-BC34A52671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521208" y="713232"/>
                <a:ext cx="11670792" cy="5155756"/>
              </a:xfrm>
              <a:blipFill>
                <a:blip r:embed="rId2"/>
                <a:stretch>
                  <a:fillRect l="-836" t="-70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04022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7D956-CBAE-C807-DF40-7FE0A0254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548640"/>
            <a:ext cx="10058400" cy="1225296"/>
          </a:xfrm>
        </p:spPr>
        <p:txBody>
          <a:bodyPr>
            <a:normAutofit/>
          </a:bodyPr>
          <a:lstStyle/>
          <a:p>
            <a:r>
              <a:rPr lang="en-IN" sz="3800" dirty="0"/>
              <a:t>5. Backpropagation in RNN (Recurrent Neural Network)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D69EF3-A291-1B3A-7372-C7E817F5F3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6968" y="2176271"/>
            <a:ext cx="10268712" cy="3692821"/>
          </a:xfrm>
        </p:spPr>
        <p:txBody>
          <a:bodyPr>
            <a:normAutofit/>
          </a:bodyPr>
          <a:lstStyle/>
          <a:p>
            <a:r>
              <a:rPr lang="en-IN" b="1" dirty="0"/>
              <a:t>Key Difference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Uses </a:t>
            </a:r>
            <a:r>
              <a:rPr lang="en-IN" b="1" dirty="0"/>
              <a:t>time sequences</a:t>
            </a:r>
            <a:r>
              <a:rPr lang="en-IN" dirty="0"/>
              <a:t>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Backpropagation through time (BPTT) </a:t>
            </a:r>
          </a:p>
          <a:p>
            <a:br>
              <a:rPr lang="en-IN" dirty="0"/>
            </a:b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84732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C4FB9A3-C98A-315B-E6E3-2F97F5CB081C}"/>
                  </a:ext>
                </a:extLst>
              </p:cNvPr>
              <p:cNvSpPr>
                <a:spLocks noGrp="1"/>
              </p:cNvSpPr>
              <p:nvPr>
                <p:ph idx="4294967295"/>
              </p:nvPr>
            </p:nvSpPr>
            <p:spPr>
              <a:xfrm>
                <a:off x="539496" y="530352"/>
                <a:ext cx="11652504" cy="5338636"/>
              </a:xfrm>
            </p:spPr>
            <p:txBody>
              <a:bodyPr>
                <a:normAutofit/>
              </a:bodyPr>
              <a:lstStyle/>
              <a:p>
                <a:r>
                  <a:rPr lang="en-IN" sz="2400" b="1" dirty="0"/>
                  <a:t>Equation</a:t>
                </a:r>
              </a:p>
              <a:p>
                <a:r>
                  <a:rPr lang="en-IN" dirty="0"/>
                  <a:t> Hidden state:</a:t>
                </a:r>
              </a:p>
              <a:p>
                <a:r>
                  <a:rPr lang="en-IN" dirty="0"/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ar-AE" dirty="0"/>
              </a:p>
              <a:p>
                <a:r>
                  <a:rPr lang="en-IN" dirty="0"/>
                  <a:t>  Output: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ar-AE" dirty="0"/>
              </a:p>
              <a:p>
                <a:r>
                  <a:rPr lang="en-IN" dirty="0"/>
                  <a:t> Loss:</a:t>
                </a:r>
              </a:p>
              <a:p>
                <a:r>
                  <a:rPr lang="en-IN" dirty="0"/>
                  <a:t> 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grow m:val="on"/>
                        <m:supHide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nary>
                  </m:oMath>
                </a14:m>
                <a:endParaRPr lang="ar-AE" dirty="0"/>
              </a:p>
              <a:p>
                <a:r>
                  <a:rPr lang="en-IN" dirty="0"/>
                  <a:t> Gradient:</a:t>
                </a:r>
              </a:p>
              <a:p>
                <a:r>
                  <a:rPr lang="en-IN" dirty="0"/>
                  <a:t>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𝑊</m:t>
                        </m:r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grow m:val="on"/>
                        <m:supHide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/>
                      <m:e>
                        <m:f>
                          <m:f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num>
                          <m:den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den>
                        </m:f>
                      </m:e>
                    </m:nary>
                  </m:oMath>
                </a14:m>
                <a:endParaRPr lang="ar-AE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C4FB9A3-C98A-315B-E6E3-2F97F5CB08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539496" y="530352"/>
                <a:ext cx="11652504" cy="5338636"/>
              </a:xfrm>
              <a:blipFill>
                <a:blip r:embed="rId2"/>
                <a:stretch>
                  <a:fillRect l="-837" t="-68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9065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175B9-96E6-5A7E-5C32-F9C08494FA5C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02336" y="356616"/>
            <a:ext cx="11789664" cy="5512372"/>
          </a:xfrm>
        </p:spPr>
        <p:txBody>
          <a:bodyPr>
            <a:normAutofit fontScale="92500" lnSpcReduction="20000"/>
          </a:bodyPr>
          <a:lstStyle/>
          <a:p>
            <a:r>
              <a:rPr lang="en-US" sz="2600" b="1" dirty="0"/>
              <a:t>Algorithm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dirty="0"/>
              <a:t>Forward pass through time steps 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dirty="0"/>
              <a:t>Compute total loss 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dirty="0"/>
              <a:t>Backpropagate through all time steps 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dirty="0"/>
              <a:t>Update weights 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sz="2600" b="1" dirty="0"/>
              <a:t>Simple Example (RNN)</a:t>
            </a:r>
          </a:p>
          <a:p>
            <a:r>
              <a:rPr lang="en-US" b="1" dirty="0"/>
              <a:t>Problem:</a:t>
            </a:r>
            <a:r>
              <a:rPr lang="en-US" dirty="0"/>
              <a:t> Predict next number in sequence: [1, 2, 3]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At each step: </a:t>
            </a:r>
          </a:p>
          <a:p>
            <a:pPr lvl="1"/>
            <a:r>
              <a:rPr lang="en-US" dirty="0"/>
              <a:t>Input → hidden state → output 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Error propagates backward through time steps 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Updates weights using all previous states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02091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43DC8-4BB9-45D2-BB91-5B39DA968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/>
              <a:t>6. Differences Between ANN, CNN, and RNN</a:t>
            </a:r>
            <a:endParaRPr lang="en-IN" sz="38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D6E1D45-CBF2-CD5B-C120-7AB52CBDA5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13109047"/>
              </p:ext>
            </p:extLst>
          </p:nvPr>
        </p:nvGraphicFramePr>
        <p:xfrm>
          <a:off x="832104" y="2258568"/>
          <a:ext cx="10323260" cy="2827308"/>
        </p:xfrm>
        <a:graphic>
          <a:graphicData uri="http://schemas.openxmlformats.org/drawingml/2006/table">
            <a:tbl>
              <a:tblPr/>
              <a:tblGrid>
                <a:gridCol w="2580815">
                  <a:extLst>
                    <a:ext uri="{9D8B030D-6E8A-4147-A177-3AD203B41FA5}">
                      <a16:colId xmlns:a16="http://schemas.microsoft.com/office/drawing/2014/main" val="2218621114"/>
                    </a:ext>
                  </a:extLst>
                </a:gridCol>
                <a:gridCol w="2580815">
                  <a:extLst>
                    <a:ext uri="{9D8B030D-6E8A-4147-A177-3AD203B41FA5}">
                      <a16:colId xmlns:a16="http://schemas.microsoft.com/office/drawing/2014/main" val="1102264459"/>
                    </a:ext>
                  </a:extLst>
                </a:gridCol>
                <a:gridCol w="2580815">
                  <a:extLst>
                    <a:ext uri="{9D8B030D-6E8A-4147-A177-3AD203B41FA5}">
                      <a16:colId xmlns:a16="http://schemas.microsoft.com/office/drawing/2014/main" val="3982216363"/>
                    </a:ext>
                  </a:extLst>
                </a:gridCol>
                <a:gridCol w="2580815">
                  <a:extLst>
                    <a:ext uri="{9D8B030D-6E8A-4147-A177-3AD203B41FA5}">
                      <a16:colId xmlns:a16="http://schemas.microsoft.com/office/drawing/2014/main" val="2140403578"/>
                    </a:ext>
                  </a:extLst>
                </a:gridCol>
              </a:tblGrid>
              <a:tr h="4712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ANN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CNN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RNN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660525"/>
                  </a:ext>
                </a:extLst>
              </a:tr>
              <a:tr h="4712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Tabular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Images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Sequential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306523"/>
                  </a:ext>
                </a:extLst>
              </a:tr>
              <a:tr h="4712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Structure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Fully connected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Convolution layers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Recurrent connections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8943134"/>
                  </a:ext>
                </a:extLst>
              </a:tr>
              <a:tr h="4712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Backpropagation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Standard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Spatial gradients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Time-based (BPTT)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89005"/>
                  </a:ext>
                </a:extLst>
              </a:tr>
              <a:tr h="4712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Weight Sharing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Yes (across time)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1558351"/>
                  </a:ext>
                </a:extLst>
              </a:tr>
              <a:tr h="4712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Memory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6717204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01C9CD0-537F-A85F-60DD-8B7FCC5374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2274323"/>
              </p:ext>
            </p:extLst>
          </p:nvPr>
        </p:nvGraphicFramePr>
        <p:xfrm>
          <a:off x="822960" y="2322576"/>
          <a:ext cx="10479024" cy="2907792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10479024">
                  <a:extLst>
                    <a:ext uri="{9D8B030D-6E8A-4147-A177-3AD203B41FA5}">
                      <a16:colId xmlns:a16="http://schemas.microsoft.com/office/drawing/2014/main" val="3123043388"/>
                    </a:ext>
                  </a:extLst>
                </a:gridCol>
              </a:tblGrid>
              <a:tr h="290779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7930366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F191B0C-9323-0087-119F-E61F255512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8179571"/>
              </p:ext>
            </p:extLst>
          </p:nvPr>
        </p:nvGraphicFramePr>
        <p:xfrm>
          <a:off x="658368" y="2075688"/>
          <a:ext cx="10744200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5355">
                  <a:extLst>
                    <a:ext uri="{9D8B030D-6E8A-4147-A177-3AD203B41FA5}">
                      <a16:colId xmlns:a16="http://schemas.microsoft.com/office/drawing/2014/main" val="656712489"/>
                    </a:ext>
                  </a:extLst>
                </a:gridCol>
                <a:gridCol w="2675355">
                  <a:extLst>
                    <a:ext uri="{9D8B030D-6E8A-4147-A177-3AD203B41FA5}">
                      <a16:colId xmlns:a16="http://schemas.microsoft.com/office/drawing/2014/main" val="192879607"/>
                    </a:ext>
                  </a:extLst>
                </a:gridCol>
                <a:gridCol w="2675355">
                  <a:extLst>
                    <a:ext uri="{9D8B030D-6E8A-4147-A177-3AD203B41FA5}">
                      <a16:colId xmlns:a16="http://schemas.microsoft.com/office/drawing/2014/main" val="873729315"/>
                    </a:ext>
                  </a:extLst>
                </a:gridCol>
                <a:gridCol w="2718135">
                  <a:extLst>
                    <a:ext uri="{9D8B030D-6E8A-4147-A177-3AD203B41FA5}">
                      <a16:colId xmlns:a16="http://schemas.microsoft.com/office/drawing/2014/main" val="1685030960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ANN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CNN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RNN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6025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Tabular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Images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Sequential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2684068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Structure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Fully connected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Convolution layers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Recurrent connections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297895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Backpropagation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Standard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Spatial gradients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Time-based (BPTT)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15414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Weight Sharing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Yes (across time)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987107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Memory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92298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68260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07D84-FFC9-A59E-A383-2F1CFFF19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/>
              <a:t>7. Key Differences in Backpropagation</a:t>
            </a:r>
            <a:endParaRPr lang="en-IN" sz="38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7F71EC1-FF7E-DDFA-432A-52B7E7DD0A4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2137175"/>
            <a:ext cx="10058400" cy="32624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ANN: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Simple gradient descent using chain rule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CNN: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Backprop through: </a:t>
            </a:r>
          </a:p>
          <a:p>
            <a:pPr marL="292608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Convolution layers </a:t>
            </a:r>
          </a:p>
          <a:p>
            <a:pPr marL="292608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Pooling layers </a:t>
            </a:r>
          </a:p>
          <a:p>
            <a:pPr marL="292608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Shared weights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RNN: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Backpropagation Through Time (BPTT) </a:t>
            </a:r>
          </a:p>
          <a:p>
            <a:pPr marL="292608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Handles temporal dependencies </a:t>
            </a:r>
          </a:p>
          <a:p>
            <a:pPr marL="292608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 suffer from vanishing gradient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09262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0D6CD-53C5-98F0-D7EC-2D7C6B80F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800" dirty="0"/>
              <a:t>8. 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B4891F-8E60-0536-4188-437F8C5F80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dirty="0"/>
              <a:t>Stanford University – CS231n: Convolutional Neural Networks</a:t>
            </a:r>
            <a:br>
              <a:rPr lang="en-IN" dirty="0"/>
            </a:br>
            <a:r>
              <a:rPr lang="en-IN" dirty="0">
                <a:hlinkClick r:id="rId2"/>
              </a:rPr>
              <a:t>http://cs231n.stanford.edu/</a:t>
            </a:r>
            <a:endParaRPr lang="en-IN" dirty="0"/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MIT </a:t>
            </a:r>
            <a:r>
              <a:rPr lang="en-US" dirty="0" err="1"/>
              <a:t>OpenCourseWare</a:t>
            </a:r>
            <a:r>
              <a:rPr lang="en-US" dirty="0"/>
              <a:t> – Neural Networks Lecture Notes</a:t>
            </a:r>
            <a:br>
              <a:rPr lang="en-US" dirty="0"/>
            </a:br>
            <a:r>
              <a:rPr lang="en-US" dirty="0">
                <a:hlinkClick r:id="rId3"/>
              </a:rPr>
              <a:t>https://ocw.mit.edu/</a:t>
            </a:r>
            <a:endParaRPr lang="en-US" dirty="0"/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MIT </a:t>
            </a:r>
            <a:r>
              <a:rPr lang="en-US" dirty="0" err="1"/>
              <a:t>OpenCourseWare</a:t>
            </a:r>
            <a:r>
              <a:rPr lang="en-US" dirty="0"/>
              <a:t> – Sequence Models and RNN</a:t>
            </a:r>
            <a:br>
              <a:rPr lang="en-US" dirty="0"/>
            </a:br>
            <a:r>
              <a:rPr lang="en-US" dirty="0">
                <a:hlinkClick r:id="rId3"/>
              </a:rPr>
              <a:t>https://ocw.mit.edu/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573566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26FBC-288D-ECC0-4794-792F1FE0F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1444752"/>
            <a:ext cx="10058400" cy="292608"/>
          </a:xfrm>
        </p:spPr>
        <p:txBody>
          <a:bodyPr>
            <a:normAutofit fontScale="90000"/>
          </a:bodyPr>
          <a:lstStyle/>
          <a:p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r>
              <a:rPr lang="en-IN" b="1" dirty="0"/>
              <a:t>9.Conclusion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97531D-1A7D-E48C-93D9-D7657BF119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058400" cy="3862831"/>
          </a:xfrm>
        </p:spPr>
        <p:txBody>
          <a:bodyPr/>
          <a:lstStyle/>
          <a:p>
            <a:r>
              <a:rPr lang="en-IN" dirty="0"/>
              <a:t>1.Backpropagation is essential for training all neural networks </a:t>
            </a:r>
          </a:p>
          <a:p>
            <a:r>
              <a:rPr lang="en-IN" dirty="0"/>
              <a:t>2.ANN, CNN, and RNN differ mainly in: </a:t>
            </a:r>
          </a:p>
          <a:p>
            <a:pPr lvl="1"/>
            <a:r>
              <a:rPr lang="en-IN" dirty="0"/>
              <a:t>Data handling </a:t>
            </a:r>
          </a:p>
          <a:p>
            <a:pPr lvl="1"/>
            <a:r>
              <a:rPr lang="en-IN" dirty="0"/>
              <a:t>Structure </a:t>
            </a:r>
          </a:p>
          <a:p>
            <a:pPr lvl="1"/>
            <a:r>
              <a:rPr lang="en-IN" dirty="0"/>
              <a:t>Gradient flow </a:t>
            </a:r>
          </a:p>
          <a:p>
            <a:r>
              <a:rPr lang="en-IN" dirty="0"/>
              <a:t>3.CNN handles spatial data, RNN handles sequential data </a:t>
            </a:r>
          </a:p>
          <a:p>
            <a:r>
              <a:rPr lang="en-IN" dirty="0"/>
              <a:t>4.Understanding these differences helps in choosing the right model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01370527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VTI">
  <a:themeElements>
    <a:clrScheme name="Custom 34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C7016"/>
      </a:accent1>
      <a:accent2>
        <a:srgbClr val="F8931D"/>
      </a:accent2>
      <a:accent3>
        <a:srgbClr val="CE8D3E"/>
      </a:accent3>
      <a:accent4>
        <a:srgbClr val="E64823"/>
      </a:accent4>
      <a:accent5>
        <a:srgbClr val="FFCA08"/>
      </a:accent5>
      <a:accent6>
        <a:srgbClr val="9C6A6A"/>
      </a:accent6>
      <a:hlink>
        <a:srgbClr val="2998E3"/>
      </a:hlink>
      <a:folHlink>
        <a:srgbClr val="7F723D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ppt/theme/themeOverride1.xml><?xml version="1.0" encoding="utf-8"?>
<a:themeOverride xmlns:a="http://schemas.openxmlformats.org/drawingml/2006/main">
  <a:clrScheme name="Custom 41">
    <a:dk1>
      <a:sysClr val="windowText" lastClr="000000"/>
    </a:dk1>
    <a:lt1>
      <a:sysClr val="window" lastClr="FFFFFF"/>
    </a:lt1>
    <a:dk2>
      <a:srgbClr val="39302A"/>
    </a:dk2>
    <a:lt2>
      <a:srgbClr val="E5DEDB"/>
    </a:lt2>
    <a:accent1>
      <a:srgbClr val="F36826"/>
    </a:accent1>
    <a:accent2>
      <a:srgbClr val="FB8E09"/>
    </a:accent2>
    <a:accent3>
      <a:srgbClr val="D48B32"/>
    </a:accent3>
    <a:accent4>
      <a:srgbClr val="E64823"/>
    </a:accent4>
    <a:accent5>
      <a:srgbClr val="FFCA08"/>
    </a:accent5>
    <a:accent6>
      <a:srgbClr val="AF695B"/>
    </a:accent6>
    <a:hlink>
      <a:srgbClr val="2998E3"/>
    </a:hlink>
    <a:folHlink>
      <a:srgbClr val="7F723D"/>
    </a:folHlink>
  </a:clrScheme>
</a:themeOverride>
</file>

<file path=ppt/theme/themeOverride2.xml><?xml version="1.0" encoding="utf-8"?>
<a:themeOverride xmlns:a="http://schemas.openxmlformats.org/drawingml/2006/main">
  <a:clrScheme name="Custom 41">
    <a:dk1>
      <a:sysClr val="windowText" lastClr="000000"/>
    </a:dk1>
    <a:lt1>
      <a:sysClr val="window" lastClr="FFFFFF"/>
    </a:lt1>
    <a:dk2>
      <a:srgbClr val="39302A"/>
    </a:dk2>
    <a:lt2>
      <a:srgbClr val="E5DEDB"/>
    </a:lt2>
    <a:accent1>
      <a:srgbClr val="F36826"/>
    </a:accent1>
    <a:accent2>
      <a:srgbClr val="FB8E09"/>
    </a:accent2>
    <a:accent3>
      <a:srgbClr val="D48B32"/>
    </a:accent3>
    <a:accent4>
      <a:srgbClr val="E64823"/>
    </a:accent4>
    <a:accent5>
      <a:srgbClr val="FFCA08"/>
    </a:accent5>
    <a:accent6>
      <a:srgbClr val="AF695B"/>
    </a:accent6>
    <a:hlink>
      <a:srgbClr val="2998E3"/>
    </a:hlink>
    <a:folHlink>
      <a:srgbClr val="7F723D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F5B1FD9-3BB6-4DA9-A089-3B68C2323D4F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638A3B04-B0F3-4C12-A722-52B5CF6D972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747A963-53E0-44AF-AF13-963FE676C68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{F9C3308F-E40D-4923-80B4-311004889F92}TF427093bb-7ddc-497b-80f4-fe945bcee621ff7241c0_win32-add2936a5c77</Template>
  <TotalTime>41</TotalTime>
  <Words>696</Words>
  <Application>Microsoft Office PowerPoint</Application>
  <PresentationFormat>Widescreen</PresentationFormat>
  <Paragraphs>167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Bookman Old Style</vt:lpstr>
      <vt:lpstr>Calibri</vt:lpstr>
      <vt:lpstr>Cambria Math</vt:lpstr>
      <vt:lpstr>Franklin Gothic Book</vt:lpstr>
      <vt:lpstr>Wingdings</vt:lpstr>
      <vt:lpstr>1_RetrospectVTI</vt:lpstr>
      <vt:lpstr>Backpropagation in ANN, CNN, and RNN</vt:lpstr>
      <vt:lpstr>1. Introduction</vt:lpstr>
      <vt:lpstr>2. Backpropagation Overview</vt:lpstr>
      <vt:lpstr>PowerPoint Presentation</vt:lpstr>
      <vt:lpstr>3. Backpropagation in ANN (Artificial Neural Network)</vt:lpstr>
      <vt:lpstr>PowerPoint Presentation</vt:lpstr>
      <vt:lpstr>PowerPoint Presentation</vt:lpstr>
      <vt:lpstr>4. Backpropagation in CNN (Convolutional Neural Network)</vt:lpstr>
      <vt:lpstr>PowerPoint Presentation</vt:lpstr>
      <vt:lpstr>PowerPoint Presentation</vt:lpstr>
      <vt:lpstr>5. Backpropagation in RNN (Recurrent Neural Network)</vt:lpstr>
      <vt:lpstr>PowerPoint Presentation</vt:lpstr>
      <vt:lpstr>PowerPoint Presentation</vt:lpstr>
      <vt:lpstr>6. Differences Between ANN, CNN, and RNN</vt:lpstr>
      <vt:lpstr>7. Key Differences in Backpropagation</vt:lpstr>
      <vt:lpstr>8. References</vt:lpstr>
      <vt:lpstr>     9.Conclusion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Sushanth K H</dc:creator>
  <cp:lastModifiedBy>Sushanth K H</cp:lastModifiedBy>
  <cp:revision>1</cp:revision>
  <dcterms:created xsi:type="dcterms:W3CDTF">2026-03-23T12:19:24Z</dcterms:created>
  <dcterms:modified xsi:type="dcterms:W3CDTF">2026-03-23T13:00:42Z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